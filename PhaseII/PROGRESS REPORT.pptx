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3" r:id="rId5"/>
    <p:sldId id="277" r:id="rId6"/>
    <p:sldId id="280" r:id="rId7"/>
    <p:sldId id="284" r:id="rId8"/>
    <p:sldId id="285" r:id="rId9"/>
    <p:sldId id="286" r:id="rId10"/>
    <p:sldId id="287" r:id="rId11"/>
    <p:sldId id="288" r:id="rId12"/>
    <p:sldId id="274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6327"/>
  </p:normalViewPr>
  <p:slideViewPr>
    <p:cSldViewPr snapToGrid="0">
      <p:cViewPr varScale="1">
        <p:scale>
          <a:sx n="106" d="100"/>
          <a:sy n="106" d="100"/>
        </p:scale>
        <p:origin x="564" y="114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7/18/2025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9767" y="3853688"/>
            <a:ext cx="6400800" cy="573457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PROGRESS REPORT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Evolution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26383-4D24-5E83-7DE3-57094EC2E13C}"/>
              </a:ext>
            </a:extLst>
          </p:cNvPr>
          <p:cNvSpPr txBox="1"/>
          <p:nvPr/>
        </p:nvSpPr>
        <p:spPr>
          <a:xfrm>
            <a:off x="1853983" y="1120676"/>
            <a:ext cx="6116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+mj-lt"/>
              </a:rPr>
              <a:t>Virtual EV Challenge</a:t>
            </a:r>
            <a:endParaRPr lang="en-IN" sz="7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983731"/>
            <a:ext cx="12403248" cy="575321"/>
          </a:xfrm>
        </p:spPr>
        <p:txBody>
          <a:bodyPr/>
          <a:lstStyle/>
          <a:p>
            <a:r>
              <a:rPr lang="en-IN" dirty="0"/>
              <a:t>Velocity &amp; Torque </a:t>
            </a:r>
            <a:br>
              <a:rPr lang="en-IN" dirty="0"/>
            </a:br>
            <a:r>
              <a:rPr lang="en-IN" dirty="0"/>
              <a:t>Optimization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A092F8-A020-53FD-DABF-0C68E81BF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93994"/>
            <a:ext cx="6023993" cy="4243568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B5F3268-336F-EC64-95BA-82658A0F20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515" y="2769594"/>
            <a:ext cx="5797085" cy="4243568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Torque Calculator Function</a:t>
            </a:r>
            <a:b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Computes required motor torque using core parameters like vehicle mass, wheel radius, and velocity error. Switches intelligently between acceleration and regen braking while respecting torque limits. Successfully validated in Phase 1 FMU.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Optimal Velocity Selection</a:t>
            </a:r>
            <a:b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Optimal velocity is determined from test runs to optimize efficiency. FMU switches velocity dynamically based on SoC and battery current to balance range and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Why Proportional-Only Control?</a:t>
            </a:r>
            <a:b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alt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We opted for proportional-only control as it delivers a fast, stable response for velocity tracking, while built-in logic handles smooth switching between acceleration and regenerative braking. This simplifies implementation and improves FMU real-time compatibility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11" y="1080167"/>
            <a:ext cx="4826509" cy="3014662"/>
          </a:xfrm>
        </p:spPr>
        <p:txBody>
          <a:bodyPr/>
          <a:lstStyle/>
          <a:p>
            <a:r>
              <a:rPr lang="en-IN" dirty="0"/>
              <a:t>Charging Decision Controller</a:t>
            </a:r>
            <a:br>
              <a:rPr lang="en-IN" b="1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1052" y="357981"/>
            <a:ext cx="4828032" cy="490538"/>
          </a:xfrm>
        </p:spPr>
        <p:txBody>
          <a:bodyPr/>
          <a:lstStyle/>
          <a:p>
            <a:r>
              <a:rPr lang="en-IN" dirty="0"/>
              <a:t>Role of This FMU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204" y="904748"/>
            <a:ext cx="4754880" cy="1682750"/>
          </a:xfrm>
        </p:spPr>
        <p:txBody>
          <a:bodyPr/>
          <a:lstStyle/>
          <a:p>
            <a:r>
              <a:rPr lang="en-US" dirty="0"/>
              <a:t>This FMU exclusively monitors the vehicle’s current state and rises a “Charging Request” whenever charging is needed.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240406"/>
            <a:ext cx="5428488" cy="490538"/>
          </a:xfrm>
        </p:spPr>
        <p:txBody>
          <a:bodyPr/>
          <a:lstStyle/>
          <a:p>
            <a:r>
              <a:rPr lang="en-IN" dirty="0"/>
              <a:t>Continuous Charge Need Assessment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2576" y="2730944"/>
            <a:ext cx="4754880" cy="1682750"/>
          </a:xfrm>
        </p:spPr>
        <p:txBody>
          <a:bodyPr/>
          <a:lstStyle/>
          <a:p>
            <a:r>
              <a:rPr lang="en-US" dirty="0"/>
              <a:t>It continuously checks SoC, battery current, and route constraints to decide whether a charge is required.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1BC669D-0530-CFCB-E75C-3478D212A4DC}"/>
              </a:ext>
            </a:extLst>
          </p:cNvPr>
          <p:cNvSpPr txBox="1">
            <a:spLocks/>
          </p:cNvSpPr>
          <p:nvPr/>
        </p:nvSpPr>
        <p:spPr>
          <a:xfrm>
            <a:off x="6096000" y="4557140"/>
            <a:ext cx="4754880" cy="168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charging is needed, the FMU identifies all physically reachable stations and computes the Target SoC and Estimated Time of Arrival (ETA) for each.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34BF90D-0EA6-0284-5188-857474EEB1C7}"/>
              </a:ext>
            </a:extLst>
          </p:cNvPr>
          <p:cNvSpPr txBox="1">
            <a:spLocks/>
          </p:cNvSpPr>
          <p:nvPr/>
        </p:nvSpPr>
        <p:spPr>
          <a:xfrm>
            <a:off x="6059425" y="4066602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Reachability &amp; Target Calculation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DE67-C8BB-861D-BD25-91CFBF64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0D03-4282-05DB-3911-AA3CCF76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15" y="920385"/>
            <a:ext cx="12403248" cy="575321"/>
          </a:xfrm>
        </p:spPr>
        <p:txBody>
          <a:bodyPr/>
          <a:lstStyle/>
          <a:p>
            <a:r>
              <a:rPr lang="en-IN" dirty="0"/>
              <a:t>Charging Decision Controller</a:t>
            </a:r>
            <a:br>
              <a:rPr lang="en-IN" b="1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52DF4BE-FBE1-27D2-C78E-BC0AFF99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13B0D-6BE8-8EA9-94A5-B24FF1A0E2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9BC2EF0-F239-6805-FA56-8EFB3448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A8565-A288-424E-E9C6-3793CD46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4" y="811742"/>
            <a:ext cx="12088031" cy="592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3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ADD2-94D0-7235-41A4-184FC347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B84B-6600-5132-7DB1-19BC3CC3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15" y="833678"/>
            <a:ext cx="12403248" cy="575321"/>
          </a:xfrm>
        </p:spPr>
        <p:txBody>
          <a:bodyPr/>
          <a:lstStyle/>
          <a:p>
            <a:r>
              <a:rPr lang="en-US" dirty="0"/>
              <a:t>Message flow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AF7DAFB-53D5-0AB5-0227-7776FCA1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 AGENTS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658DFE5-9592-E30D-19FA-7DD16A3B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65B44-2E53-85C7-6FD0-203A43386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99" y="1408999"/>
            <a:ext cx="8932602" cy="52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9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FD63-A16E-A127-6F9B-1B2027F1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CCF6-36DB-9975-4CF9-8D692E0F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12" y="1080167"/>
            <a:ext cx="2646056" cy="1507331"/>
          </a:xfrm>
        </p:spPr>
        <p:txBody>
          <a:bodyPr/>
          <a:lstStyle/>
          <a:p>
            <a:r>
              <a:rPr lang="en-IN" dirty="0"/>
              <a:t>Car </a:t>
            </a:r>
            <a:br>
              <a:rPr lang="en-IN" dirty="0"/>
            </a:br>
            <a:r>
              <a:rPr lang="en-IN" dirty="0"/>
              <a:t>agent</a:t>
            </a:r>
            <a:br>
              <a:rPr lang="en-IN" b="1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AD2FFF5-8AEE-BDB0-1E47-11B06DF0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5B6D0-60F5-DE5B-883F-089E852831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1052" y="357981"/>
            <a:ext cx="4828032" cy="490538"/>
          </a:xfrm>
        </p:spPr>
        <p:txBody>
          <a:bodyPr/>
          <a:lstStyle/>
          <a:p>
            <a:r>
              <a:rPr lang="en-IN" dirty="0"/>
              <a:t>Role: The Vehicle’s Navigator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8D713-83B7-229E-2BD0-8353E1C5D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204" y="904748"/>
            <a:ext cx="4754880" cy="1682750"/>
          </a:xfrm>
        </p:spPr>
        <p:txBody>
          <a:bodyPr/>
          <a:lstStyle/>
          <a:p>
            <a:r>
              <a:rPr lang="en-US" dirty="0"/>
              <a:t>The Car Agent acts as the vehicle’s “pilot,” responsible for selecting the single best charging station based on real-time conditions.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BA886-F02E-281F-F82E-24D979B6D9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240406"/>
            <a:ext cx="5428488" cy="490538"/>
          </a:xfrm>
        </p:spPr>
        <p:txBody>
          <a:bodyPr/>
          <a:lstStyle/>
          <a:p>
            <a:r>
              <a:rPr lang="en-IN" dirty="0"/>
              <a:t>Multi-Factor Strategy Engine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6FB33D-6F87-C11C-3F65-AFC8DBC77C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2576" y="2730944"/>
            <a:ext cx="4754880" cy="12484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weighted cost function evaluates:</a:t>
            </a:r>
          </a:p>
          <a:p>
            <a:r>
              <a:rPr lang="en-US" b="1" dirty="0"/>
              <a:t>Time</a:t>
            </a:r>
            <a:r>
              <a:rPr lang="en-US" dirty="0"/>
              <a:t>: Travel, queue, and charging duration</a:t>
            </a:r>
          </a:p>
          <a:p>
            <a:r>
              <a:rPr lang="en-US" b="1" dirty="0"/>
              <a:t>Availability</a:t>
            </a:r>
            <a:r>
              <a:rPr lang="en-US" dirty="0"/>
              <a:t>: BUSY, FREE, MAINTENANCE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CB08340-9523-C065-B995-1C9A92DE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77FC94-2CD8-0D6C-C6A1-5E9855008354}"/>
              </a:ext>
            </a:extLst>
          </p:cNvPr>
          <p:cNvSpPr txBox="1">
            <a:spLocks/>
          </p:cNvSpPr>
          <p:nvPr/>
        </p:nvSpPr>
        <p:spPr>
          <a:xfrm>
            <a:off x="6096000" y="4557140"/>
            <a:ext cx="4754880" cy="168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Car Agent continuously monitors vehicle state via FMU data. If conditions change (e.g., SoC drops unexpectedly), it aborts the current plan and triggers a fresh decision cycle.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BE3AA8-7AF0-E7AE-B7FE-CBD88D2163BB}"/>
              </a:ext>
            </a:extLst>
          </p:cNvPr>
          <p:cNvSpPr txBox="1">
            <a:spLocks/>
          </p:cNvSpPr>
          <p:nvPr/>
        </p:nvSpPr>
        <p:spPr>
          <a:xfrm>
            <a:off x="6059424" y="4066602"/>
            <a:ext cx="5284567" cy="490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Continuous Dynamic Re-Evaluation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4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ACCB3-9709-F66E-7236-591705E8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E48A-BCB6-0A0D-3859-20651ECE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12" y="1080167"/>
            <a:ext cx="3008194" cy="1507331"/>
          </a:xfrm>
        </p:spPr>
        <p:txBody>
          <a:bodyPr/>
          <a:lstStyle/>
          <a:p>
            <a:r>
              <a:rPr lang="en-IN" dirty="0"/>
              <a:t>CHARGE  </a:t>
            </a:r>
            <a:br>
              <a:rPr lang="en-IN" dirty="0"/>
            </a:br>
            <a:r>
              <a:rPr lang="en-IN" dirty="0"/>
              <a:t>agent</a:t>
            </a:r>
            <a:br>
              <a:rPr lang="en-IN" b="1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CE186D-BC14-485A-5BDA-ADAD877A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93AB0-4168-F25A-B5DA-3F7CA57AA6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76" y="379534"/>
            <a:ext cx="4828032" cy="490538"/>
          </a:xfrm>
        </p:spPr>
        <p:txBody>
          <a:bodyPr/>
          <a:lstStyle/>
          <a:p>
            <a:r>
              <a:rPr lang="en-IN" dirty="0"/>
              <a:t>Role: Central Network Coordinator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ACC40-1916-19B8-11FC-4F85123505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32576" y="921292"/>
            <a:ext cx="6022848" cy="1682750"/>
          </a:xfrm>
        </p:spPr>
        <p:txBody>
          <a:bodyPr/>
          <a:lstStyle/>
          <a:p>
            <a:r>
              <a:rPr lang="en-US" dirty="0"/>
              <a:t>The Charge Agent serves as the manager of the charging network — tracking station availability, queue lengths, and handling all booking requests in real time.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1C269-F3A0-04C0-3C91-5EF93A433E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59425" y="2337944"/>
            <a:ext cx="5428488" cy="490538"/>
          </a:xfrm>
        </p:spPr>
        <p:txBody>
          <a:bodyPr/>
          <a:lstStyle/>
          <a:p>
            <a:r>
              <a:rPr lang="en-IN" dirty="0"/>
              <a:t>Smart Reservation &amp; Scheduling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C18596-9B2C-6EE9-DC24-F6543A7227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2576" y="2755823"/>
            <a:ext cx="5917012" cy="12484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handles advanced scheduling using ETA data from vehicles:</a:t>
            </a:r>
          </a:p>
          <a:p>
            <a:r>
              <a:rPr lang="en-US" dirty="0"/>
              <a:t>Reserves stations dynamically</a:t>
            </a:r>
          </a:p>
          <a:p>
            <a:r>
              <a:rPr lang="en-US" dirty="0"/>
              <a:t>Cancels bookings for no-shows</a:t>
            </a:r>
          </a:p>
          <a:p>
            <a:r>
              <a:rPr lang="en-US" dirty="0"/>
              <a:t>Frees up chargers efficiently to reduce downtime and improve throughput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377FC6-0210-B7DA-209C-DAC4F106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B1BD56-AD18-DB24-E7FA-72FDA4090320}"/>
              </a:ext>
            </a:extLst>
          </p:cNvPr>
          <p:cNvSpPr txBox="1">
            <a:spLocks/>
          </p:cNvSpPr>
          <p:nvPr/>
        </p:nvSpPr>
        <p:spPr>
          <a:xfrm>
            <a:off x="6132576" y="5175250"/>
            <a:ext cx="6026590" cy="168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case of charger outages or network failures, the Charge Agent </a:t>
            </a:r>
            <a:r>
              <a:rPr lang="en-US" b="1" dirty="0"/>
              <a:t>broadcasts alerts</a:t>
            </a:r>
            <a:r>
              <a:rPr lang="en-US" dirty="0"/>
              <a:t> instead of waiting for pull requests. The Car Agent instantly receives these and re-routes if its current plan is affected.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FBEEE8A-9077-1A27-F8D9-8B8F35768106}"/>
              </a:ext>
            </a:extLst>
          </p:cNvPr>
          <p:cNvSpPr txBox="1">
            <a:spLocks/>
          </p:cNvSpPr>
          <p:nvPr/>
        </p:nvSpPr>
        <p:spPr>
          <a:xfrm>
            <a:off x="6132576" y="4736281"/>
            <a:ext cx="5428488" cy="490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Failure Management</a:t>
            </a:r>
          </a:p>
        </p:txBody>
      </p:sp>
    </p:spTree>
    <p:extLst>
      <p:ext uri="{BB962C8B-B14F-4D97-AF65-F5344CB8AC3E}">
        <p14:creationId xmlns:p14="http://schemas.microsoft.com/office/powerpoint/2010/main" val="304640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28A5-61BF-3AD3-A4B8-8E99E9BB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5512-64A8-3E7F-6CBD-5AD3DB45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12" y="1080167"/>
            <a:ext cx="5823822" cy="3002946"/>
          </a:xfrm>
        </p:spPr>
        <p:txBody>
          <a:bodyPr/>
          <a:lstStyle/>
          <a:p>
            <a:r>
              <a:rPr lang="en-IN" dirty="0"/>
              <a:t>Agent</a:t>
            </a:r>
            <a:br>
              <a:rPr lang="en-IN" dirty="0"/>
            </a:br>
            <a:r>
              <a:rPr lang="en-IN" dirty="0"/>
              <a:t>COMMUNICATION</a:t>
            </a:r>
            <a:br>
              <a:rPr lang="en-IN" dirty="0"/>
            </a:br>
            <a:r>
              <a:rPr lang="en-IN" dirty="0"/>
              <a:t>PRTOCOL</a:t>
            </a:r>
            <a:br>
              <a:rPr lang="en-IN" b="1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BA03257-8A81-393C-A0AF-33CB5CBD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FMU Phase II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EE0372-A481-F1D3-7018-2816BE0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91B7B1E2-2776-022F-B127-0A2D6DA46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424" y="905231"/>
            <a:ext cx="9370336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Aptos" panose="020B0004020202020204" pitchFamily="34" charset="0"/>
              </a:rPr>
              <a:t>StationStatusQuery</a:t>
            </a:r>
            <a:r>
              <a:rPr lang="en-US" altLang="en-US" sz="1400" dirty="0">
                <a:latin typeface="Aptos" panose="020B0004020202020204" pitchFamily="34" charset="0"/>
              </a:rPr>
              <a:t> – Used by the </a:t>
            </a:r>
            <a:r>
              <a:rPr lang="en-US" altLang="en-US" sz="1400" b="1" dirty="0">
                <a:latin typeface="Aptos" panose="020B0004020202020204" pitchFamily="34" charset="0"/>
              </a:rPr>
              <a:t>Car Agent </a:t>
            </a:r>
            <a:r>
              <a:rPr lang="en-US" altLang="en-US" sz="1400" dirty="0">
                <a:latin typeface="Aptos" panose="020B0004020202020204" pitchFamily="34" charset="0"/>
              </a:rPr>
              <a:t>to request real-time data for a specific list of reachable charging stations. Includes: </a:t>
            </a:r>
            <a:r>
              <a:rPr lang="en-US" altLang="en-US" sz="1400" dirty="0" err="1">
                <a:latin typeface="Aptos" panose="020B0004020202020204" pitchFamily="34" charset="0"/>
              </a:rPr>
              <a:t>station_ids</a:t>
            </a:r>
            <a:r>
              <a:rPr lang="en-US" altLang="en-US" sz="1400" dirty="0">
                <a:latin typeface="Aptos" panose="020B0004020202020204" pitchFamily="34" charset="0"/>
              </a:rPr>
              <a:t>: list[int], e.g., [1, 3, 4].</a:t>
            </a: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ptos" panose="020B0004020202020204" pitchFamily="34" charset="0"/>
            </a:endParaRP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Aptos" panose="020B0004020202020204" pitchFamily="34" charset="0"/>
              </a:rPr>
              <a:t>StationStatusResponse</a:t>
            </a:r>
            <a:r>
              <a:rPr lang="en-US" altLang="en-US" sz="1400" dirty="0">
                <a:latin typeface="Aptos" panose="020B0004020202020204" pitchFamily="34" charset="0"/>
              </a:rPr>
              <a:t> – Sent by the </a:t>
            </a:r>
            <a:r>
              <a:rPr lang="en-US" altLang="en-US" sz="1400" b="1" dirty="0">
                <a:latin typeface="Aptos" panose="020B0004020202020204" pitchFamily="34" charset="0"/>
              </a:rPr>
              <a:t>Charge Agent </a:t>
            </a:r>
            <a:r>
              <a:rPr lang="en-US" altLang="en-US" sz="1400" dirty="0">
                <a:latin typeface="Aptos" panose="020B0004020202020204" pitchFamily="34" charset="0"/>
              </a:rPr>
              <a:t>in response to the query. Returns live data for each requested station as a dictionary: </a:t>
            </a:r>
            <a:r>
              <a:rPr lang="en-US" altLang="en-US" sz="1400" dirty="0" err="1">
                <a:latin typeface="Aptos" panose="020B0004020202020204" pitchFamily="34" charset="0"/>
              </a:rPr>
              <a:t>station_data</a:t>
            </a:r>
            <a:r>
              <a:rPr lang="en-US" altLang="en-US" sz="1400" dirty="0">
                <a:latin typeface="Aptos" panose="020B0004020202020204" pitchFamily="34" charset="0"/>
              </a:rPr>
              <a:t>: </a:t>
            </a:r>
            <a:r>
              <a:rPr lang="en-US" altLang="en-US" sz="1400" dirty="0" err="1">
                <a:latin typeface="Aptos" panose="020B0004020202020204" pitchFamily="34" charset="0"/>
              </a:rPr>
              <a:t>dict</a:t>
            </a:r>
            <a:r>
              <a:rPr lang="en-US" altLang="en-US" sz="1400" dirty="0">
                <a:latin typeface="Aptos" panose="020B0004020202020204" pitchFamily="34" charset="0"/>
              </a:rPr>
              <a:t> where each key is a station ID and the value includes fields like "</a:t>
            </a:r>
            <a:r>
              <a:rPr lang="en-US" altLang="en-US" sz="1400" dirty="0" err="1">
                <a:latin typeface="Aptos" panose="020B0004020202020204" pitchFamily="34" charset="0"/>
              </a:rPr>
              <a:t>wait_mins</a:t>
            </a:r>
            <a:r>
              <a:rPr lang="en-US" altLang="en-US" sz="1400" dirty="0">
                <a:latin typeface="Aptos" panose="020B0004020202020204" pitchFamily="34" charset="0"/>
              </a:rPr>
              <a:t>", "</a:t>
            </a:r>
            <a:r>
              <a:rPr lang="en-US" altLang="en-US" sz="1400" dirty="0" err="1">
                <a:latin typeface="Aptos" panose="020B0004020202020204" pitchFamily="34" charset="0"/>
              </a:rPr>
              <a:t>cost_per_kwh</a:t>
            </a:r>
            <a:r>
              <a:rPr lang="en-US" altLang="en-US" sz="1400" dirty="0">
                <a:latin typeface="Aptos" panose="020B0004020202020204" pitchFamily="34" charset="0"/>
              </a:rPr>
              <a:t>", and "status".</a:t>
            </a: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ptos" panose="020B0004020202020204" pitchFamily="34" charset="0"/>
            </a:endParaRP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Aptos" panose="020B0004020202020204" pitchFamily="34" charset="0"/>
              </a:rPr>
              <a:t>BookingRequest</a:t>
            </a:r>
            <a:r>
              <a:rPr lang="en-US" altLang="en-US" sz="1400" dirty="0">
                <a:latin typeface="Aptos" panose="020B0004020202020204" pitchFamily="34" charset="0"/>
              </a:rPr>
              <a:t> – Sent by the </a:t>
            </a:r>
            <a:r>
              <a:rPr lang="en-US" altLang="en-US" sz="1400" b="1" dirty="0">
                <a:latin typeface="Aptos" panose="020B0004020202020204" pitchFamily="34" charset="0"/>
              </a:rPr>
              <a:t>Car Agent </a:t>
            </a:r>
            <a:r>
              <a:rPr lang="en-US" altLang="en-US" sz="1400" dirty="0">
                <a:latin typeface="Aptos" panose="020B0004020202020204" pitchFamily="34" charset="0"/>
              </a:rPr>
              <a:t>to formally request a reservation at the chosen optimal station. Contains: </a:t>
            </a:r>
            <a:r>
              <a:rPr lang="en-US" altLang="en-US" sz="1400" dirty="0" err="1">
                <a:latin typeface="Aptos" panose="020B0004020202020204" pitchFamily="34" charset="0"/>
              </a:rPr>
              <a:t>station_id</a:t>
            </a:r>
            <a:r>
              <a:rPr lang="en-US" altLang="en-US" sz="1400" dirty="0">
                <a:latin typeface="Aptos" panose="020B0004020202020204" pitchFamily="34" charset="0"/>
              </a:rPr>
              <a:t>: int and </a:t>
            </a:r>
            <a:r>
              <a:rPr lang="en-US" altLang="en-US" sz="1400" dirty="0" err="1">
                <a:latin typeface="Aptos" panose="020B0004020202020204" pitchFamily="34" charset="0"/>
              </a:rPr>
              <a:t>eta_seconds</a:t>
            </a:r>
            <a:r>
              <a:rPr lang="en-US" altLang="en-US" sz="1400" dirty="0">
                <a:latin typeface="Aptos" panose="020B0004020202020204" pitchFamily="34" charset="0"/>
              </a:rPr>
              <a:t>: int for advanced scheduling.</a:t>
            </a: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ptos" panose="020B0004020202020204" pitchFamily="34" charset="0"/>
            </a:endParaRP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Aptos" panose="020B0004020202020204" pitchFamily="34" charset="0"/>
              </a:rPr>
              <a:t>BookingConfirmation</a:t>
            </a:r>
            <a:r>
              <a:rPr lang="en-US" altLang="en-US" sz="1400" dirty="0">
                <a:latin typeface="Aptos" panose="020B0004020202020204" pitchFamily="34" charset="0"/>
              </a:rPr>
              <a:t> – Sent by the </a:t>
            </a:r>
            <a:r>
              <a:rPr lang="en-US" altLang="en-US" sz="1400" b="1" dirty="0">
                <a:latin typeface="Aptos" panose="020B0004020202020204" pitchFamily="34" charset="0"/>
              </a:rPr>
              <a:t>Charge Agent </a:t>
            </a:r>
            <a:r>
              <a:rPr lang="en-US" altLang="en-US" sz="1400" dirty="0">
                <a:latin typeface="Aptos" panose="020B0004020202020204" pitchFamily="34" charset="0"/>
              </a:rPr>
              <a:t>to confirm whether the reservation was successful. Includes: </a:t>
            </a:r>
            <a:r>
              <a:rPr lang="en-US" altLang="en-US" sz="1400" dirty="0" err="1">
                <a:latin typeface="Aptos" panose="020B0004020202020204" pitchFamily="34" charset="0"/>
              </a:rPr>
              <a:t>booking_status</a:t>
            </a:r>
            <a:r>
              <a:rPr lang="en-US" altLang="en-US" sz="1400" dirty="0">
                <a:latin typeface="Aptos" panose="020B0004020202020204" pitchFamily="34" charset="0"/>
              </a:rPr>
              <a:t>: str (e.g., "CONFIRMED" or "FAILED") and </a:t>
            </a:r>
            <a:r>
              <a:rPr lang="en-US" altLang="en-US" sz="1400" dirty="0" err="1">
                <a:latin typeface="Aptos" panose="020B0004020202020204" pitchFamily="34" charset="0"/>
              </a:rPr>
              <a:t>booking_id</a:t>
            </a:r>
            <a:r>
              <a:rPr lang="en-US" altLang="en-US" sz="1400" dirty="0">
                <a:latin typeface="Aptos" panose="020B0004020202020204" pitchFamily="34" charset="0"/>
              </a:rPr>
              <a:t>: str for confirmed bookings.</a:t>
            </a: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ptos" panose="020B0004020202020204" pitchFamily="34" charset="0"/>
            </a:endParaRP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Aptos" panose="020B0004020202020204" pitchFamily="34" charset="0"/>
              </a:rPr>
              <a:t>StationStatusAlert</a:t>
            </a:r>
            <a:r>
              <a:rPr lang="en-US" altLang="en-US" sz="1400" dirty="0">
                <a:latin typeface="Aptos" panose="020B0004020202020204" pitchFamily="34" charset="0"/>
              </a:rPr>
              <a:t> – Broadcasted by the </a:t>
            </a:r>
            <a:r>
              <a:rPr lang="en-US" altLang="en-US" sz="1400" b="1" dirty="0">
                <a:latin typeface="Aptos" panose="020B0004020202020204" pitchFamily="34" charset="0"/>
              </a:rPr>
              <a:t>Charge Agent </a:t>
            </a:r>
            <a:r>
              <a:rPr lang="en-US" altLang="en-US" sz="1400" dirty="0">
                <a:latin typeface="Aptos" panose="020B0004020202020204" pitchFamily="34" charset="0"/>
              </a:rPr>
              <a:t>to notify all agents when a station’s status changes unexpectedly (e.g., outage or maintenance). Fields: </a:t>
            </a:r>
            <a:r>
              <a:rPr lang="en-US" altLang="en-US" sz="1400" dirty="0" err="1">
                <a:latin typeface="Aptos" panose="020B0004020202020204" pitchFamily="34" charset="0"/>
              </a:rPr>
              <a:t>station_id</a:t>
            </a:r>
            <a:r>
              <a:rPr lang="en-US" altLang="en-US" sz="1400" dirty="0">
                <a:latin typeface="Aptos" panose="020B0004020202020204" pitchFamily="34" charset="0"/>
              </a:rPr>
              <a:t>: int, </a:t>
            </a:r>
            <a:r>
              <a:rPr lang="en-US" altLang="en-US" sz="1400" dirty="0" err="1">
                <a:latin typeface="Aptos" panose="020B0004020202020204" pitchFamily="34" charset="0"/>
              </a:rPr>
              <a:t>new_status</a:t>
            </a:r>
            <a:r>
              <a:rPr lang="en-US" altLang="en-US" sz="1400" dirty="0">
                <a:latin typeface="Aptos" panose="020B0004020202020204" pitchFamily="34" charset="0"/>
              </a:rPr>
              <a:t>: str, such as "MAINTENANCE".</a:t>
            </a:r>
          </a:p>
          <a:p>
            <a:pPr marL="3943350" lvl="8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 err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22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74</TotalTime>
  <Words>676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PROGRESS REPORT</vt:lpstr>
      <vt:lpstr>Velocity &amp; Torque  Optimization</vt:lpstr>
      <vt:lpstr>Charging Decision Controller </vt:lpstr>
      <vt:lpstr>Charging Decision Controller </vt:lpstr>
      <vt:lpstr>Message flow</vt:lpstr>
      <vt:lpstr>Car  agent </vt:lpstr>
      <vt:lpstr>CHARGE   agent </vt:lpstr>
      <vt:lpstr>Agent COMMUNICATION PRTOCOL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Akaash SS</dc:creator>
  <cp:lastModifiedBy>Akaash SS</cp:lastModifiedBy>
  <cp:revision>1</cp:revision>
  <dcterms:created xsi:type="dcterms:W3CDTF">2025-07-18T07:17:28Z</dcterms:created>
  <dcterms:modified xsi:type="dcterms:W3CDTF">2025-07-18T08:31:39Z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